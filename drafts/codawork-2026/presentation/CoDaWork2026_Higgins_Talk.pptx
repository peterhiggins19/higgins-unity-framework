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d_A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4.8189</c:v>
                </c:pt>
                <c:pt idx="1">
                  <c:v>0.7312</c:v>
                </c:pt>
                <c:pt idx="2">
                  <c:v>0.6555</c:v>
                </c:pt>
                <c:pt idx="3">
                  <c:v>0.5744</c:v>
                </c:pt>
                <c:pt idx="4">
                  <c:v>0.8092</c:v>
                </c:pt>
                <c:pt idx="5">
                  <c:v>0.5134</c:v>
                </c:pt>
                <c:pt idx="6">
                  <c:v>0.4552</c:v>
                </c:pt>
                <c:pt idx="7">
                  <c:v>3.2143</c:v>
                </c:pt>
                <c:pt idx="8">
                  <c:v>0.4604</c:v>
                </c:pt>
                <c:pt idx="9">
                  <c:v>0.5558</c:v>
                </c:pt>
                <c:pt idx="10">
                  <c:v>0.7791</c:v>
                </c:pt>
                <c:pt idx="11">
                  <c:v>0.4902</c:v>
                </c:pt>
                <c:pt idx="12">
                  <c:v>0.9251</c:v>
                </c:pt>
                <c:pt idx="13">
                  <c:v>0.3463</c:v>
                </c:pt>
                <c:pt idx="14">
                  <c:v>0.3706</c:v>
                </c:pt>
                <c:pt idx="15">
                  <c:v>0.367</c:v>
                </c:pt>
                <c:pt idx="16">
                  <c:v>0.322</c:v>
                </c:pt>
                <c:pt idx="17">
                  <c:v>0.2455</c:v>
                </c:pt>
                <c:pt idx="18">
                  <c:v>0.3675</c:v>
                </c:pt>
                <c:pt idx="19">
                  <c:v>0.3438</c:v>
                </c:pt>
                <c:pt idx="20">
                  <c:v>0.2716</c:v>
                </c:pt>
                <c:pt idx="21">
                  <c:v>0.7217</c:v>
                </c:pt>
                <c:pt idx="22">
                  <c:v>1.5336</c:v>
                </c:pt>
                <c:pt idx="23">
                  <c:v>9.0712</c:v>
                </c:pt>
                <c:pt idx="24">
                  <c:v>5.7331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d_A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0.8591</c:v>
                </c:pt>
                <c:pt idx="1">
                  <c:v>0.5064</c:v>
                </c:pt>
                <c:pt idx="2">
                  <c:v>0.7713</c:v>
                </c:pt>
                <c:pt idx="3">
                  <c:v>0.5886</c:v>
                </c:pt>
                <c:pt idx="4">
                  <c:v>0.3963</c:v>
                </c:pt>
                <c:pt idx="5">
                  <c:v>0.3181</c:v>
                </c:pt>
                <c:pt idx="6">
                  <c:v>0.3736</c:v>
                </c:pt>
                <c:pt idx="7">
                  <c:v>0.2135</c:v>
                </c:pt>
                <c:pt idx="8">
                  <c:v>0.5466</c:v>
                </c:pt>
                <c:pt idx="9">
                  <c:v>0.2875</c:v>
                </c:pt>
                <c:pt idx="10">
                  <c:v>0.8411</c:v>
                </c:pt>
                <c:pt idx="11">
                  <c:v>2.2063</c:v>
                </c:pt>
                <c:pt idx="12">
                  <c:v>0.6423</c:v>
                </c:pt>
                <c:pt idx="13">
                  <c:v>9.0477</c:v>
                </c:pt>
                <c:pt idx="14">
                  <c:v>7.846</c:v>
                </c:pt>
                <c:pt idx="15">
                  <c:v>1.3262</c:v>
                </c:pt>
                <c:pt idx="16">
                  <c:v>0.7688</c:v>
                </c:pt>
                <c:pt idx="17">
                  <c:v>0.5154</c:v>
                </c:pt>
                <c:pt idx="18">
                  <c:v>0.4687</c:v>
                </c:pt>
                <c:pt idx="19">
                  <c:v>0.5921</c:v>
                </c:pt>
                <c:pt idx="20">
                  <c:v>0.3502</c:v>
                </c:pt>
                <c:pt idx="21">
                  <c:v>0.4257</c:v>
                </c:pt>
                <c:pt idx="22">
                  <c:v>0.5569</c:v>
                </c:pt>
                <c:pt idx="23">
                  <c:v>0.3276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d_A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0.349</c:v>
                </c:pt>
                <c:pt idx="1">
                  <c:v>0.295</c:v>
                </c:pt>
                <c:pt idx="2">
                  <c:v>0.4562</c:v>
                </c:pt>
                <c:pt idx="3">
                  <c:v>0.5527</c:v>
                </c:pt>
                <c:pt idx="4">
                  <c:v>2.9812</c:v>
                </c:pt>
                <c:pt idx="5">
                  <c:v>0.4073</c:v>
                </c:pt>
                <c:pt idx="6">
                  <c:v>0.3768</c:v>
                </c:pt>
                <c:pt idx="7">
                  <c:v>0.7326</c:v>
                </c:pt>
                <c:pt idx="8">
                  <c:v>0.4378</c:v>
                </c:pt>
                <c:pt idx="9">
                  <c:v>0.8336</c:v>
                </c:pt>
                <c:pt idx="10">
                  <c:v>1.7333</c:v>
                </c:pt>
                <c:pt idx="11">
                  <c:v>1.6899</c:v>
                </c:pt>
                <c:pt idx="12">
                  <c:v>0.5716</c:v>
                </c:pt>
                <c:pt idx="13">
                  <c:v>0.7712</c:v>
                </c:pt>
                <c:pt idx="14">
                  <c:v>0.6898</c:v>
                </c:pt>
                <c:pt idx="15">
                  <c:v>1.0458</c:v>
                </c:pt>
                <c:pt idx="16">
                  <c:v>0.4587</c:v>
                </c:pt>
                <c:pt idx="17">
                  <c:v>3.2263</c:v>
                </c:pt>
                <c:pt idx="18">
                  <c:v>0.8914</c:v>
                </c:pt>
                <c:pt idx="19">
                  <c:v>3.2579</c:v>
                </c:pt>
                <c:pt idx="20">
                  <c:v>0.3687</c:v>
                </c:pt>
                <c:pt idx="21">
                  <c:v>0.3076</c:v>
                </c:pt>
                <c:pt idx="22">
                  <c:v>0.4332</c:v>
                </c:pt>
                <c:pt idx="23">
                  <c:v>0.7091</c:v>
                </c:pt>
                <c:pt idx="24">
                  <c:v>1.7194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Compositional Monitoring of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Energy-Mix Drift on the Simplex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Higgins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researcher, Markham, Ontario, Canada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CoDaWork 2026  |  Coimbra, Portugal  |  1–5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1051560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ignores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62763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frameworks compare against external thresholds or models. None operate natively on the geometry of proportional allocation.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23160"/>
            <a:ext cx="64008" cy="1051560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963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mix is compositional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of electricity generation by carrier sum to 100%. Arithmetic operations (differences, means) produce spurious results on such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657600"/>
            <a:ext cx="64008" cy="1051560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0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has been overlooked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CoDa community has rich cross-sectional tools. Formal time-series monitoring with perturbation-based drift measurement does not yet exist.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Protocol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Perturbation (compositional change)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16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Δ(t) = C( x₁(t+1)/x₁(t), …, x_D(t+1)/x_D(t) 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compositional ratio between consecutive periods. Not arithmetic difference.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64008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Aitchison Distance (drift magnitude)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16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d_A(x, y) = ‖ clr(x) − clr(y) 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0906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metric on the simplex. Invariant under perturbation and subcomposition.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657600"/>
            <a:ext cx="64008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Effective Diversity (concentration)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050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16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N_eff = exp( −Σ x_i ln(x_i) 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3708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D when all carriers contribute equally. Approaches 1 when one carrier dominates.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Germany, Japan, UK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8-simplex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Carriers:  Coal  ·  Gas  ·  Nuclear  ·  Hydro  ·  Solar  ·  Wind  ·  Bioenergy  ·  Other Fossil  ·  Other Renewables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EMBER Global Electricity Review (CC BY 4.0)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replacement: multiplicative, δ = 10⁻⁶ (preserves ratios among non-zero parts)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Phase-Out and Energiewende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— Year-on-Year Aitchison Distance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d_A =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1.3871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σ = 2.0882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Threshold (μ+2σ) = 5.5634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Total shift from 2000: d_A = 17.85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— Drift Flags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→ 2024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9.0712  (3.68σ above mean)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nuclear shutdown (April 2023) — full-year effect on composition. Nuclear: 1.4% → 0.0%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5.7331  (2.08σ above mean)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Post-nuclear rebalancing continues. Coal, gas, solar, wind redistribute shares.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64008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Diversity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N_eff: 3.49 (2000) → 5.85 (2025)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Germany’s composition underwent a genuine regime change: 52% coal dominance in 2000 → distributed mix by 2025. Total structural shift d_A = 17.85 from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Post-Fukushima Nuclear Withdrawal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— Year-on-Year Aitchison Distance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d_A =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1.2823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σ = 2.2043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Threshold (μ+2σ) = 5.6909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Total shift from 2000: d_A = 7.25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— Drift Flags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→ 2014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9.0477  (3.52σ above mean)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Near-total nuclear shutdown. Nuclear fleet effectively offline; gas and coal absorb the burden.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→ 2015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7.8460  (2.98σ above mean)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output at zero for full year. Sharpest compositional shock in the dataset.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291840"/>
            <a:ext cx="64008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Diversity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N_eff: 4.91 (2000) → 5.17 (2024)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Japan’s perturbation-based signal is unmistakable: a structural transition invisible to non-compositional methods that track absolute TWh rather than proportional reallocation.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Exit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6A34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 — Year-on-Year Aitchison Distance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8412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31520" y="4343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d_A =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1.0118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σ = 0.8945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Threshold (μ+2σ) = 2.8008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Total shift from 2000: d_A = 12.95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 — Drift Flags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→ 2005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2.9812  (2.2σ above mean)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Dash-for-gas acceleration. Coal/gas ratio shifts sharply.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→ 2018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3.2263  (2.48σ above mean)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collapse phase accelerates. Coal share drops below 10%.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64008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→ 2020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d_A = 3.2579  (2.51σ above mean)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demand shock compounds coal near-zero. Coal: 1.8%.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97680"/>
            <a:ext cx="64008" cy="822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Diversity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N_eff: 3.71 (2000) → 5.24 (2025)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Steadiest structural drift of three countries: three flags spread over 15 years. Coal 31.8% (2000) → 0.1% (2025). Wind rises to 29.5%.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Three Countries, Seven Flags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75688"/>
                <a:gridCol w="2075688"/>
                <a:gridCol w="207568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d_A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σ(d_A)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d_A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9.0712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from 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N_eff trend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 → 5.85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4.91 → 5.17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 → 5.24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098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drift flag corresponds to a documented energy-policy event.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 for the Community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1828800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diversity </a:t>
            </a:r>
            <a:pPr indent="0" marL="0">
              <a:buNone/>
            </a:pPr>
            <a:r>
              <a:rPr lang="en-US" sz="1600" i="1" dirty="0">
                <a:solidFill>
                  <a:srgbClr val="0A16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N_eff = exp(H)</a:t>
            </a:r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Aitchison norm </a:t>
            </a:r>
            <a:pPr indent="0" marL="0">
              <a:buNone/>
            </a:pPr>
            <a:r>
              <a:rPr lang="en-US" sz="1600" i="1" dirty="0">
                <a:solidFill>
                  <a:srgbClr val="0A162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‖x‖_A = ‖clr(x)‖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quantify how “spread” a composition is across its parts. What is the formal relationship between these two measures? Under what conditions do they diverge? What does each reveal that the other does not?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community’s expertise in simplex geometry may illuminate this connection.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Deeper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decimate a compositional time series —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25 annual observations to 10, or 5 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properties must the decimation</a:t>
            </a:r>
            <a:endParaRPr lang="en-US" sz="2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400" b="1" i="1" dirty="0">
                <a:solidFill>
                  <a:srgbClr val="F098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 to remain compositionally valid?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finding: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Geometric-mean decimation preserves Shannon entropy to within 5%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35 NGFS scenario trajectories. Arithmetic decimation does not.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suggests an entropy-invariance constraint on valid compositional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operations — a constraint not yet formalised in the CoDa literature.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0981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Falsifiable Claim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0972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monitoring framework performs compositional change detection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carrier level with formal perturbation-based drift measurement.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defeat this claim: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published system using the Aitchison metric on energy-mix compositions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published system measuring change as perturbation (compositional ratio)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published system at individual carrier level within the simplex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theoretical proof that CoDa adds no information beyond percentage monitoring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would welcome any of these outcomes.  |  All data, code, and documentation are publicly available.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Compositional Monitoring of Energy-Mix Drift on the Simplex</dc:title>
  <dc:subject>PptxGenJS Presentation</dc:subject>
  <dc:creator>Peter Higgins</dc:creator>
  <cp:lastModifiedBy>Peter Higgins</cp:lastModifiedBy>
  <cp:revision>1</cp:revision>
  <dcterms:created xsi:type="dcterms:W3CDTF">2026-04-13T12:24:32Z</dcterms:created>
  <dcterms:modified xsi:type="dcterms:W3CDTF">2026-04-13T12:24:32Z</dcterms:modified>
</cp:coreProperties>
</file>