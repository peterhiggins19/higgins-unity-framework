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188720"/>
            <a:ext cx="6400800" cy="36576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FFFFFF"/>
                </a:solidFill>
                <a:latin typeface="Georgia"/>
              </a:defRPr>
            </a:pPr>
            <a:r>
              <a:t>Compositional Monitoring 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E8B04B"/>
                </a:solidFill>
                <a:latin typeface="Georgia"/>
              </a:defRPr>
            </a:pPr>
            <a:r>
              <a:t>Energy-Mix Drift on the Simplex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468880"/>
            <a:ext cx="6400800" cy="36576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CADCFC"/>
                </a:solidFill>
                <a:latin typeface="Calibri"/>
              </a:defRPr>
            </a:pPr>
            <a:r>
              <a:t>Peter Higgins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64748B"/>
                </a:solidFill>
                <a:latin typeface="Calibri"/>
              </a:defRPr>
            </a:pPr>
            <a:r>
              <a:t>Rogue Wave Audio  •  Markham, Ontario, Canada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1">
                <a:solidFill>
                  <a:srgbClr val="64748B"/>
                </a:solidFill>
                <a:latin typeface="Calibri"/>
              </a:defRPr>
            </a:pPr>
            <a:r>
              <a:t>CoDaWork 2026  •  Coimbra, Portugal  •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E2761"/>
                </a:solidFill>
                <a:latin typeface="Georgia"/>
              </a:defRPr>
            </a:pPr>
            <a: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2743200" cy="54864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80467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E2761"/>
                </a:solidFill>
                <a:latin typeface="Calibri"/>
              </a:defRPr>
            </a:pPr>
            <a:r>
              <a:t>"How do we detect when an energy mix is drifting—not just in total output,</a:t>
            </a:r>
            <a:br/>
            <a:r>
              <a:t>but in its internal compositional balance?"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1E293B"/>
                </a:solidFill>
                <a:latin typeface="Calibri"/>
              </a:defRPr>
            </a:pPr>
            <a:r>
              <a:t>Existing monitoring watches magnitude (MC-1), identity (MC-2), and trend (MC-3).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293B"/>
                </a:solidFill>
                <a:latin typeface="Calibri"/>
              </a:defRPr>
            </a:pPr>
            <a:r>
              <a:t>Nobody monitors composition—the proportional balance of parts sharing a conserved whole.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65A82"/>
                </a:solidFill>
                <a:latin typeface="Calibri"/>
              </a:defRPr>
            </a:pPr>
            <a:r>
              <a:t>We propose MC-4: Composition Monitoring. The instrument reads. The human decides. The loop stays open.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E2761"/>
                </a:solidFill>
                <a:latin typeface="Georgia"/>
              </a:defRPr>
            </a:pPr>
            <a:r>
              <a:t>The Four Monitoring Categories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2743200" cy="54864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8046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64748B"/>
                </a:solidFill>
                <a:latin typeface="Calibri"/>
              </a:defRPr>
            </a:pPr>
            <a:r>
              <a:t>MC-1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143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E293B"/>
                </a:solidFill>
                <a:latin typeface="Calibri"/>
              </a:defRPr>
            </a:pPr>
            <a:r>
              <a:t>Magnitude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64748B"/>
                </a:solidFill>
                <a:latin typeface="Calibri"/>
              </a:defRPr>
            </a:pPr>
            <a:r>
              <a:t>How much?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280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64748B"/>
                </a:solidFill>
                <a:latin typeface="Calibri"/>
              </a:defRPr>
            </a:pPr>
            <a:r>
              <a:t>Universally deployed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8046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64748B"/>
                </a:solidFill>
                <a:latin typeface="Calibri"/>
              </a:defRPr>
            </a:pPr>
            <a:r>
              <a:t>MC-2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01167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E293B"/>
                </a:solidFill>
                <a:latin typeface="Calibri"/>
              </a:defRPr>
            </a:pPr>
            <a: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64748B"/>
                </a:solidFill>
                <a:latin typeface="Calibri"/>
              </a:defRPr>
            </a:pPr>
            <a:r>
              <a:t>Who or what?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1488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64748B"/>
                </a:solidFill>
                <a:latin typeface="Calibri"/>
              </a:defRPr>
            </a:pPr>
            <a:r>
              <a:t>Universally deployed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34639"/>
            <a:ext cx="8046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92607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64748B"/>
                </a:solidFill>
                <a:latin typeface="Calibri"/>
              </a:defRPr>
            </a:pPr>
            <a:r>
              <a:t>MC-3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8803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E293B"/>
                </a:solidFill>
                <a:latin typeface="Calibri"/>
              </a:defRPr>
            </a:pPr>
            <a:r>
              <a:t>Trend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20039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64748B"/>
                </a:solidFill>
                <a:latin typeface="Calibri"/>
              </a:defRPr>
            </a:pPr>
            <a:r>
              <a:t>Which direction?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0175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64748B"/>
                </a:solidFill>
                <a:latin typeface="Calibri"/>
              </a:defRPr>
            </a:pPr>
            <a:r>
              <a:t>Universally deployed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79475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E8B04B"/>
                </a:solidFill>
                <a:latin typeface="Calibri"/>
              </a:defRPr>
            </a:pPr>
            <a:r>
              <a:t>MC-4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E293B"/>
                </a:solidFill>
                <a:latin typeface="Calibri"/>
              </a:defRPr>
            </a:pPr>
            <a:r>
              <a:t>Composition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0690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64748B"/>
                </a:solidFill>
                <a:latin typeface="Calibri"/>
              </a:defRPr>
            </a:pPr>
            <a:r>
              <a:t>What is the balance?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8862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E8B04B"/>
                </a:solidFill>
                <a:latin typeface="Calibri"/>
              </a:defRPr>
            </a:pPr>
            <a:r>
              <a:t>Proposed (this talk)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E2761"/>
                </a:solidFill>
                <a:latin typeface="Georgia"/>
              </a:defRPr>
            </a:pPr>
            <a:r>
              <a:t>The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065A82"/>
                </a:solidFill>
                <a:latin typeface="Calibri"/>
              </a:defRPr>
            </a:pPr>
            <a:r>
              <a:t>Perturbation-Based Drift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87552"/>
            <a:ext cx="2743200" cy="54864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8046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65A82"/>
                </a:solidFill>
                <a:latin typeface="Calibri"/>
              </a:defRPr>
            </a:pPr>
            <a:r>
              <a:t>Perturbation Difference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1887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2761"/>
                </a:solidFill>
                <a:latin typeface="Consolas"/>
              </a:defRPr>
            </a:pPr>
            <a:r>
              <a:t>Δ(t) = C( x₁(t+1)/x₁(t), …, x_D(t+1)/x_D(t) 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64748B"/>
                </a:solidFill>
                <a:latin typeface="Calibri"/>
              </a:defRPr>
            </a:pPr>
            <a:r>
              <a:t>Compositional ratio between consecutive periods.</a:t>
            </a:r>
            <a:br/>
            <a:r>
              <a:t>Aitchison-group analogue of subtraction.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8046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65A82"/>
                </a:solidFill>
                <a:latin typeface="Calibri"/>
              </a:defRPr>
            </a:pPr>
            <a:r>
              <a:t>Aitchison Distance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1031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2761"/>
                </a:solidFill>
                <a:latin typeface="Consolas"/>
              </a:defRPr>
            </a:pPr>
            <a:r>
              <a:t>d_A(x, y) = ‖clr(x) − clr(y)‖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0487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64748B"/>
                </a:solidFill>
                <a:latin typeface="Calibri"/>
              </a:defRPr>
            </a:pPr>
            <a:r>
              <a:t>Natural metric on the simplex. Invariant under</a:t>
            </a:r>
            <a:br/>
            <a:r>
              <a:t>perturbation, permutation, subcomposition.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71800"/>
            <a:ext cx="8046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017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65A82"/>
                </a:solidFill>
                <a:latin typeface="Calibri"/>
              </a:defRPr>
            </a:pPr>
            <a:r>
              <a:t>Effective Diversity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0175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2761"/>
                </a:solidFill>
                <a:latin typeface="Consolas"/>
              </a:defRPr>
            </a:pPr>
            <a:r>
              <a:t>N_eff = exp(H(x))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31927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64748B"/>
                </a:solidFill>
                <a:latin typeface="Calibri"/>
              </a:defRPr>
            </a:pPr>
            <a:r>
              <a:t>Effective number of carriers. Equals D when uniform,</a:t>
            </a:r>
            <a:br/>
            <a:r>
              <a:t>approaches 1 when one dominates.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86200"/>
            <a:ext cx="8046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65A82"/>
                </a:solidFill>
                <a:latin typeface="Calibri"/>
              </a:defRPr>
            </a:pPr>
            <a:r>
              <a:t>Drift Flag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9319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2761"/>
                </a:solidFill>
                <a:latin typeface="Consolas"/>
              </a:defRPr>
            </a:pPr>
            <a:r>
              <a:t>Flag when d_A(t→t+1) &gt; μ + 2σ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23367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64748B"/>
                </a:solidFill>
                <a:latin typeface="Calibri"/>
              </a:defRPr>
            </a:pPr>
            <a:r>
              <a:t>Self-calibrated from each country's own distribution.</a:t>
            </a:r>
            <a:br/>
            <a:r>
              <a:t>No external threshold needed.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E2761"/>
                </a:solidFill>
                <a:latin typeface="Georgia"/>
              </a:defRPr>
            </a:pPr>
            <a:r>
              <a:t>Data: EMBER Global Electricity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2743200" cy="54864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65A82"/>
                </a:solidFill>
                <a:latin typeface="Calibri"/>
              </a:defRPr>
            </a:pPr>
            <a:r>
              <a:t>9 Carriers (D=9)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E293B"/>
                </a:solidFill>
                <a:latin typeface="Calibri"/>
              </a:defRPr>
            </a:pPr>
            <a:r>
              <a:t>Coal • Gas • Nuclear • Hydro</a:t>
            </a:r>
            <a:br/>
            <a:r>
              <a:t>Solar • Wind • Bioenergy</a:t>
            </a:r>
            <a:br/>
            <a:r>
              <a:t>Other Fossil • Other Renewables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4748B"/>
                </a:solidFill>
                <a:latin typeface="Calibri"/>
              </a:defRPr>
            </a:pPr>
            <a:r>
              <a:t>Simplex dimension: 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05156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65A82"/>
                </a:solidFill>
                <a:latin typeface="Calibri"/>
              </a:defRPr>
            </a:pPr>
            <a:r>
              <a:t>3 Countries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508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E293B"/>
                </a:solidFill>
                <a:latin typeface="Calibri"/>
              </a:defRPr>
            </a:pPr>
            <a:r>
              <a:t>Germany: 2000–2025 (26 years)</a:t>
            </a:r>
            <a:br/>
            <a:r>
              <a:t>Japan: 2000–2024 (25 years)</a:t>
            </a:r>
            <a:br/>
            <a:r>
              <a:t>United Kingdom: 2000–2025 (26 years)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3317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4748B"/>
                </a:solidFill>
                <a:latin typeface="Calibri"/>
              </a:defRPr>
            </a:pPr>
            <a:r>
              <a:t>Source: EMBER (CC BY 4.0)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4748B"/>
                </a:solidFill>
                <a:latin typeface="Calibri"/>
              </a:defRPr>
            </a:pPr>
            <a:r>
              <a:t>Zero replacement: multiplicative, δ = 10⁻⁶ (Martín-Fernández et al. 2003)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2900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4748B"/>
                </a:solidFill>
                <a:latin typeface="Calibri"/>
              </a:defRPr>
            </a:pPr>
            <a:r>
              <a:t>All computations in CLR space. Aitchison distances self-calibrated per country.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E2761"/>
                </a:solidFill>
                <a:latin typeface="Georgia"/>
              </a:defRPr>
            </a:pPr>
            <a:r>
              <a:t>Germany: Nuclear Exit Visible on the Simplex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2743200" cy="54864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E8B04B"/>
                </a:solidFill>
                <a:latin typeface="Calibri"/>
              </a:defRPr>
            </a:pPr>
            <a:r>
              <a:t>9.07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554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max d_A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0515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E8B04B"/>
                </a:solidFill>
                <a:latin typeface="Calibri"/>
              </a:defRPr>
            </a:pPr>
            <a:r>
              <a:t>5.73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554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2nd flag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0515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E8B04B"/>
                </a:solidFill>
                <a:latin typeface="Calibri"/>
              </a:defRPr>
            </a:pPr>
            <a:r>
              <a:t>3.49 → 5.85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554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N_eff trend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0515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E8B04B"/>
                </a:solidFill>
                <a:latin typeface="Calibri"/>
              </a:defRPr>
            </a:pPr>
            <a:r>
              <a:t>34.68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554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total drift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103120"/>
            <a:ext cx="8046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194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EF4444"/>
                </a:solidFill>
                <a:latin typeface="Calibri"/>
              </a:defRPr>
            </a:pPr>
            <a:r>
              <a:t>Drift Flags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1460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2023→2024  d_A = 9.0712  (σ-excess: 3.68)  —  Final nuclear shutdown April 2023, full-year effect. Nuclear 1.4% → 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88036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2024→2025  d_A = 5.7331  (σ-excess: 2.08)  —  Post-nuclear rebalancing continues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49039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65A82"/>
                </a:solidFill>
                <a:latin typeface="Calibri"/>
              </a:defRPr>
            </a:pPr>
            <a:r>
              <a:t>2000: Coal 52% • Nuclear 30% • Solar 0%      →      2025: Wind 27% • Coal 21% • Solar 18%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Threshold: μ + 2σ = 5.56   •   Self-calibrated, no external parameter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E2761"/>
                </a:solidFill>
                <a:latin typeface="Georgia"/>
              </a:defRPr>
            </a:pPr>
            <a:r>
              <a:t>Japan: Fukushima Compositional Shock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065A82"/>
                </a:solidFill>
                <a:latin typeface="Calibri"/>
              </a:defRPr>
            </a:pPr>
            <a:r>
              <a:t>2013–2014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2743200" cy="54864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143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E8B04B"/>
                </a:solidFill>
                <a:latin typeface="Calibri"/>
              </a:defRPr>
            </a:pPr>
            <a:r>
              <a:t>9.05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max d_A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143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E8B04B"/>
                </a:solidFill>
                <a:latin typeface="Calibri"/>
              </a:defRPr>
            </a:pPr>
            <a:r>
              <a:t>7.85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2nd flag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1430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E8B04B"/>
                </a:solidFill>
                <a:latin typeface="Calibri"/>
              </a:defRPr>
            </a:pPr>
            <a:r>
              <a:t>4.91 → 5.17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N_eff trend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143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E8B04B"/>
                </a:solidFill>
                <a:latin typeface="Calibri"/>
              </a:defRPr>
            </a:pPr>
            <a:r>
              <a:t>30.78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total drift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240280"/>
            <a:ext cx="8046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EF4444"/>
                </a:solidFill>
                <a:latin typeface="Calibri"/>
              </a:defRPr>
            </a:pPr>
            <a:r>
              <a:t>Drift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65176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2013→2014  d_A = 9.0477  (σ-excess: 3.52)  —  Near-total nuclear shutdown post-Fukushima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2014→2015  d_A = 7.8460  (σ-excess: 2.98)  —  Nuclear fleet fully offline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048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65A82"/>
                </a:solidFill>
                <a:latin typeface="Calibri"/>
              </a:defRPr>
            </a:pPr>
            <a:r>
              <a:t>Fukushima: March 2011. Compositional shock fully absorbed in annual data by 2013–2014.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64748B"/>
                </a:solidFill>
                <a:latin typeface="Calibri"/>
              </a:defRPr>
            </a:pPr>
            <a:r>
              <a:t>The Aitchison metric sees the when; the perturbation vector tells which carriers moved.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E2761"/>
                </a:solidFill>
                <a:latin typeface="Georgia"/>
              </a:defRPr>
            </a:pPr>
            <a:r>
              <a:t>United Kingdom: Three Transitions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065A82"/>
                </a:solidFill>
                <a:latin typeface="Calibri"/>
              </a:defRPr>
            </a:pPr>
            <a:r>
              <a:t>25 Years of Gradual Evolution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2743200" cy="54864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143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E8B04B"/>
                </a:solidFill>
                <a:latin typeface="Calibri"/>
              </a:defRPr>
            </a:pPr>
            <a:r>
              <a:t>3.26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max d_A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1430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E8B04B"/>
                </a:solidFill>
                <a:latin typeface="Calibri"/>
              </a:defRPr>
            </a:pPr>
            <a:r>
              <a:t>3.71 → 5.24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N_eff trend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143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E8B04B"/>
                </a:solidFill>
                <a:latin typeface="Calibri"/>
              </a:defRPr>
            </a:pPr>
            <a:r>
              <a:t>25.30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total drift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143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E8B04B"/>
                </a:solidFill>
                <a:latin typeface="Calibri"/>
              </a:defRPr>
            </a:pPr>
            <a:r>
              <a:t>12.95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shift from 2000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240280"/>
            <a:ext cx="80467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EF4444"/>
                </a:solidFill>
                <a:latin typeface="Calibri"/>
              </a:defRPr>
            </a:pPr>
            <a:r>
              <a:t>Three Drift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6517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2004→2005  d_A = 2.9812  (σ-excess: 2.20)  —  Dash-for-gas acceleration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97180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2017→2018  d_A = 3.2263  (σ-excess: 2.48)  —  Coal collapse phase accelerates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29184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2019→2020  d_A = 3.2579  (σ-excess: 2.51)  —  COVID demand shock + coal near-zero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6052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65A82"/>
                </a:solidFill>
                <a:latin typeface="Calibri"/>
              </a:defRPr>
            </a:pPr>
            <a:r>
              <a:t>2000: Coal 32% • Gas 39% • Wind 0.2%   →   2025: Wind 30% • Gas 31% • Coal 0.1%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E2761"/>
                </a:solidFill>
                <a:latin typeface="Georgia"/>
              </a:defRPr>
            </a:pPr>
            <a:r>
              <a:t>Three Countries, Three Transition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2743200" cy="54864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1E2761"/>
                </a:solidFill>
                <a:latin typeface="Calibri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2651760" y="1051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1E2761"/>
                </a:solidFill>
                <a:latin typeface="Calibri"/>
              </a:defRPr>
            </a:pPr>
            <a:r>
              <a:t>Germany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79" y="1051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1E2761"/>
                </a:solidFill>
                <a:latin typeface="Calibri"/>
              </a:defRPr>
            </a:pPr>
            <a:r>
              <a:t>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7999" y="1051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1E2761"/>
                </a:solidFill>
                <a:latin typeface="Calibri"/>
              </a:defRPr>
            </a:pPr>
            <a:r>
              <a:t>UK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0467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9047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293B"/>
                </a:solidFill>
                <a:latin typeface="Calibri"/>
              </a:defRPr>
            </a:pPr>
            <a:r>
              <a:t>Mean d_A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4904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1.39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904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1.28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4904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1.01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920240"/>
            <a:ext cx="8046720" cy="457200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9339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293B"/>
                </a:solidFill>
                <a:latin typeface="Calibri"/>
              </a:defRPr>
            </a:pPr>
            <a:r>
              <a:t>Max d_A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1993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9.07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1993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9.05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9933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3.26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423160"/>
            <a:ext cx="80467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49631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293B"/>
                </a:solidFill>
                <a:latin typeface="Calibri"/>
              </a:defRPr>
            </a:pPr>
            <a:r>
              <a:t>N_eff trend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24963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3.49→5.85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24963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4.91→5.17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4963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3.71→5.24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926080"/>
            <a:ext cx="8046720" cy="457200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9992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293B"/>
                </a:solidFill>
                <a:latin typeface="Calibri"/>
              </a:defRPr>
            </a:pPr>
            <a:r>
              <a:t>Total drift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29992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34.68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29992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30.78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9992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25.30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429000"/>
            <a:ext cx="80467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5021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293B"/>
                </a:solidFill>
                <a:latin typeface="Calibri"/>
              </a:defRPr>
            </a:pPr>
            <a:r>
              <a:t>Flags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35021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2 (nuclear exit)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35021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2 (Fukushima)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35021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3 (gradual)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00507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293B"/>
                </a:solidFill>
                <a:latin typeface="Calibri"/>
              </a:defRPr>
            </a:pPr>
            <a:r>
              <a:t>Character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51760" y="40050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Revolution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0050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Shock + stasis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050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Evolution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1">
                <a:solidFill>
                  <a:srgbClr val="065A82"/>
                </a:solidFill>
                <a:latin typeface="Calibri"/>
              </a:defRPr>
            </a:pPr>
            <a:r>
              <a:t>Same protocol, same tools, same thresholds. Three different compositional stories emerge.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B04B"/>
                </a:solidFill>
                <a:latin typeface="Georgia"/>
              </a:defRPr>
            </a:pPr>
            <a:r>
              <a:t>The EITT Discovery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2743200" cy="36576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CADCFC"/>
                </a:solidFill>
                <a:latin typeface="Calibri"/>
              </a:defRPr>
            </a:pPr>
            <a:r>
              <a:t>Entropy-Invariant Time Transformer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7680960" cy="731520"/>
          </a:xfrm>
          <a:prstGeom prst="rect">
            <a:avLst/>
          </a:prstGeom>
          <a:solidFill>
            <a:srgbClr val="1E293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Shannon entropy of compositional time series is empirically near-invariant</a:t>
            </a:r>
            <a:br/>
            <a:r>
              <a:t>under geometric-mean block decimation.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E8B04B"/>
                </a:solidFill>
                <a:latin typeface="Calibri"/>
              </a:defRPr>
            </a:pPr>
            <a:r>
              <a:t>0.18%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CADCFC"/>
                </a:solidFill>
                <a:latin typeface="Calibri"/>
              </a:defRPr>
            </a:pPr>
            <a:r>
              <a:t>entropy variation</a:t>
            </a:r>
            <a:br/>
            <a:r>
              <a:t>341:1 compression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6060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CADCFC"/>
                </a:solidFill>
                <a:latin typeface="Calibri"/>
              </a:defRPr>
            </a:pPr>
            <a:r>
              <a:t>1.02%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CADCFC"/>
                </a:solidFill>
                <a:latin typeface="Calibri"/>
              </a:defRPr>
            </a:pPr>
            <a:r>
              <a:t>mean variation</a:t>
            </a:r>
            <a:br/>
            <a:r>
              <a:t>6 countries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6060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0B981"/>
                </a:solidFill>
                <a:latin typeface="Calibri"/>
              </a:defRPr>
            </a:pPr>
            <a:r>
              <a:t>&lt; 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CADCFC"/>
                </a:solidFill>
                <a:latin typeface="Calibri"/>
              </a:defRPr>
            </a:pPr>
            <a:r>
              <a:t>NGFS Phase 4</a:t>
            </a:r>
            <a:br/>
            <a:r>
              <a:t>35 scenarios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CADCFC"/>
                </a:solidFill>
                <a:latin typeface="Calibri"/>
              </a:defRPr>
            </a:pPr>
            <a:r>
              <a:t>Geometric mean is the natural CoDa operation. It preserves entropy.</a:t>
            </a:r>
            <a:br/>
            <a:r>
              <a:t>Arithmetic mean destroys 20–40% of entropy structure.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E2761"/>
                </a:solidFill>
                <a:latin typeface="Georgia"/>
              </a:defRPr>
            </a:pPr>
            <a:r>
              <a:t>EITT: Why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2743200" cy="54864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1097280"/>
            <a:ext cx="320040" cy="32004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051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293B"/>
                </a:solidFill>
                <a:latin typeface="Calibri"/>
              </a:defRPr>
            </a:pPr>
            <a:r>
              <a:t>CLR linearity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25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64748B"/>
                </a:solidFill>
                <a:latin typeface="Calibri"/>
              </a:defRPr>
            </a:pPr>
            <a:r>
              <a:t>clr(x̄_G) = (1/k)∑ clr(x(t))</a:t>
            </a:r>
            <a:br/>
            <a:r>
              <a:t>CLR coordinates average linearly under geometric mean.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057400"/>
            <a:ext cx="320040" cy="32004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756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011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293B"/>
                </a:solidFill>
                <a:latin typeface="Calibri"/>
              </a:defRPr>
            </a:pPr>
            <a:r>
              <a:t>Jensen's inequality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860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64748B"/>
                </a:solidFill>
                <a:latin typeface="Calibri"/>
              </a:defRPr>
            </a:pPr>
            <a:r>
              <a:t>Entropy is concave on the simplex.</a:t>
            </a:r>
            <a:br/>
            <a:r>
              <a:t>The correction is second-order: ΔH ≈ ½ tr[|Hess_H| · Cov].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017520"/>
            <a:ext cx="320040" cy="32004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3580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971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293B"/>
                </a:solidFill>
                <a:latin typeface="Calibri"/>
              </a:defRPr>
            </a:pPr>
            <a:r>
              <a:t>Temporal autocorrelation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246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64748B"/>
                </a:solidFill>
                <a:latin typeface="Calibri"/>
              </a:defRPr>
            </a:pPr>
            <a:r>
              <a:t>Compositions at adjacent times are similar.</a:t>
            </a:r>
            <a:br/>
            <a:r>
              <a:t>The covariance within each block is small, making ΔH ≈ 0.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3977639"/>
            <a:ext cx="320040" cy="32004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9592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931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293B"/>
                </a:solidFill>
                <a:latin typeface="Calibri"/>
              </a:defRPr>
            </a:pPr>
            <a:r>
              <a:t>Boundary condition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2062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64748B"/>
                </a:solidFill>
                <a:latin typeface="Calibri"/>
              </a:defRPr>
            </a:pPr>
            <a:r>
              <a:t>EITT holds for real-world systems with structural persistence.</a:t>
            </a:r>
            <a:br/>
            <a:r>
              <a:t>It fails for synthetic noise (no autocorrelation).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E2761"/>
                </a:solidFill>
                <a:latin typeface="Georgia"/>
              </a:defRPr>
            </a:pPr>
            <a:r>
              <a:t>Adversarial Testing: Where EITT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2743200" cy="54864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3657600" cy="1645920"/>
          </a:xfrm>
          <a:prstGeom prst="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0B981"/>
                </a:solidFill>
                <a:latin typeface="Calibri"/>
              </a:defRPr>
            </a:pPr>
            <a:r>
              <a:t>PASS (10 real-world)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Japan post-Fukushima (0.33%)</a:t>
            </a:r>
            <a:br/>
            <a:r>
              <a:t>Norway 92% hydro (1.60%)</a:t>
            </a:r>
            <a:br/>
            <a:r>
              <a:t>France 71% nuclear (1.84%)</a:t>
            </a:r>
            <a:br/>
            <a:r>
              <a:t>Poland 73% coal (1.64%)</a:t>
            </a:r>
            <a:br/>
            <a:r>
              <a:t>6 countries at D=3 (all &lt; 1.4%)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1051560"/>
            <a:ext cx="4023360" cy="1645920"/>
          </a:xfrm>
          <a:prstGeom prst="rect">
            <a:avLst/>
          </a:prstGeom>
          <a:solidFill>
            <a:srgbClr val="FEF2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EF4444"/>
                </a:solidFill>
                <a:latin typeface="Calibri"/>
              </a:defRPr>
            </a:pPr>
            <a:r>
              <a:t>FAIL (7 designed)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4630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E293B"/>
                </a:solidFill>
                <a:latin typeface="Calibri"/>
              </a:defRPr>
            </a:pPr>
            <a:r>
              <a:t>Oscillating extremes (73%)</a:t>
            </a:r>
            <a:br/>
            <a:r>
              <a:t>Monotonic drift (15%)</a:t>
            </a:r>
            <a:br/>
            <a:r>
              <a:t>Step function (45%)</a:t>
            </a:r>
            <a:br/>
            <a:r>
              <a:t>Dirichlet noise α=0.1 (99%)</a:t>
            </a:r>
            <a:br/>
            <a:r>
              <a:t>Estonia 70% oil shale (8.4%)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26080"/>
            <a:ext cx="8046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E293B"/>
                </a:solidFill>
                <a:latin typeface="Calibri"/>
              </a:defRPr>
            </a:pPr>
            <a:r>
              <a:t>The boundary is precise: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EITT holds when the system being monitored has structural persistence—compositions at adjacent time points are similar. Real-world energy systems satisfy this. Synthetic noise does not. We showed both cases on purpose.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2336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1">
                <a:solidFill>
                  <a:srgbClr val="64748B"/>
                </a:solidFill>
                <a:latin typeface="Calibri"/>
              </a:defRPr>
            </a:pPr>
            <a:r>
              <a:t>We earned our supper. — P. Higgins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E2761"/>
                </a:solidFill>
                <a:latin typeface="Georgia"/>
              </a:defRPr>
            </a:pPr>
            <a:r>
              <a:t>Cross-Domain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2743200" cy="54864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2761"/>
                </a:solidFill>
                <a:latin typeface="Calibri"/>
              </a:defRPr>
            </a:pPr>
            <a:r>
              <a:t>Exp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2761"/>
                </a:solidFill>
                <a:latin typeface="Calibri"/>
              </a:defRPr>
            </a:pPr>
            <a:r>
              <a:t>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0515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2761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2761"/>
                </a:solidFill>
                <a:latin typeface="Calibri"/>
              </a:defRPr>
            </a:pPr>
            <a:r>
              <a:t>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0515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2761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80467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3560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65A82"/>
                </a:solidFill>
                <a:latin typeface="Calibri"/>
              </a:defRPr>
            </a:pPr>
            <a:r>
              <a:t>EXP-01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43560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E293B"/>
                </a:solidFill>
                <a:latin typeface="Calibri"/>
              </a:defRPr>
            </a:pPr>
            <a:r>
              <a:t>Gold/Silver 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43560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64748B"/>
                </a:solidFill>
                <a:latin typeface="Calibri"/>
              </a:defRPr>
            </a:pPr>
            <a:r>
              <a:t>624 obs, 1688–2026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4356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E293B"/>
                </a:solidFill>
                <a:latin typeface="Calibri"/>
              </a:defRPr>
            </a:pPr>
            <a:r>
              <a:t>PR=97%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4356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0B981"/>
                </a:solidFill>
                <a:latin typeface="Calibri"/>
              </a:defRPr>
            </a:pPr>
            <a:r>
              <a:t>LEGITIMATE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828800"/>
            <a:ext cx="8046720" cy="411480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892807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65A82"/>
                </a:solidFill>
                <a:latin typeface="Calibri"/>
              </a:defRPr>
            </a:pPr>
            <a:r>
              <a:t>EXP-02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1892807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E293B"/>
                </a:solidFill>
                <a:latin typeface="Calibri"/>
              </a:defRPr>
            </a:pPr>
            <a:r>
              <a:t>US Monthly Electricity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1892807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64748B"/>
                </a:solidFill>
                <a:latin typeface="Calibri"/>
              </a:defRPr>
            </a:pPr>
            <a:r>
              <a:t>302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18928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E293B"/>
                </a:solidFill>
                <a:latin typeface="Calibri"/>
              </a:defRPr>
            </a:pPr>
            <a:r>
              <a:t>PR=94%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1892807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0B981"/>
                </a:solidFill>
                <a:latin typeface="Calibri"/>
              </a:defRPr>
            </a:pPr>
            <a:r>
              <a:t>LEGITIMATE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286000"/>
            <a:ext cx="80467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35000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65A82"/>
                </a:solidFill>
                <a:latin typeface="Calibri"/>
              </a:defRPr>
            </a:pPr>
            <a:r>
              <a:t>EXP-03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35000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E293B"/>
                </a:solidFill>
                <a:latin typeface="Calibri"/>
              </a:defRPr>
            </a:pPr>
            <a:r>
              <a:t>Uranium-235 Binding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5000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64748B"/>
                </a:solidFill>
                <a:latin typeface="Calibri"/>
              </a:defRPr>
            </a:pPr>
            <a:r>
              <a:t>235 nucleons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23500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E293B"/>
                </a:solidFill>
                <a:latin typeface="Calibri"/>
              </a:defRPr>
            </a:pPr>
            <a:r>
              <a:t>PR=78%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23500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0B981"/>
                </a:solidFill>
                <a:latin typeface="Calibri"/>
              </a:defRPr>
            </a:pPr>
            <a:r>
              <a:t>LEGITIMATE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743200"/>
            <a:ext cx="8046720" cy="411480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280720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65A82"/>
                </a:solidFill>
                <a:latin typeface="Calibri"/>
              </a:defRPr>
            </a:pPr>
            <a:r>
              <a:t>EXP-04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280720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E293B"/>
                </a:solidFill>
                <a:latin typeface="Calibri"/>
              </a:defRPr>
            </a:pPr>
            <a:r>
              <a:t>Microphone Valley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280720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64748B"/>
                </a:solidFill>
                <a:latin typeface="Calibri"/>
              </a:defRPr>
            </a:pPr>
            <a:r>
              <a:t>82 measurements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28072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E293B"/>
                </a:solidFill>
                <a:latin typeface="Calibri"/>
              </a:defRPr>
            </a:pPr>
            <a:r>
              <a:t>PR=88%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28072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0B981"/>
                </a:solidFill>
                <a:latin typeface="Calibri"/>
              </a:defRPr>
            </a:pPr>
            <a:r>
              <a:t>LEGITIMATE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200400"/>
            <a:ext cx="80467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26440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65A82"/>
                </a:solidFill>
                <a:latin typeface="Calibri"/>
              </a:defRPr>
            </a:pPr>
            <a:r>
              <a:t>EXP-05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26440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E293B"/>
                </a:solidFill>
                <a:latin typeface="Calibri"/>
              </a:defRPr>
            </a:pPr>
            <a:r>
              <a:t>Geochemistry (synthetic)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326440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64748B"/>
                </a:solidFill>
                <a:latin typeface="Calibri"/>
              </a:defRPr>
            </a:pPr>
            <a:r>
              <a:t>500 samples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0" y="32644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E293B"/>
                </a:solidFill>
                <a:latin typeface="Calibri"/>
              </a:defRPr>
            </a:pPr>
            <a:r>
              <a:t>PR=89–95%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32644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0B981"/>
                </a:solidFill>
                <a:latin typeface="Calibri"/>
              </a:defRPr>
            </a:pPr>
            <a:r>
              <a:t>LEGITIMATE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657600"/>
            <a:ext cx="8046720" cy="411480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372160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65A82"/>
                </a:solidFill>
                <a:latin typeface="Calibri"/>
              </a:defRPr>
            </a:pPr>
            <a:r>
              <a:t>EXP-05b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372160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E293B"/>
                </a:solidFill>
                <a:latin typeface="Calibri"/>
              </a:defRPr>
            </a:pPr>
            <a:r>
              <a:t>Geochemistry (40,666 rocks)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372160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64748B"/>
                </a:solidFill>
                <a:latin typeface="Calibri"/>
              </a:defRPr>
            </a:pPr>
            <a:r>
              <a:t>Ball 2022 + AGDB3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0" y="37216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E293B"/>
                </a:solidFill>
                <a:latin typeface="Calibri"/>
              </a:defRPr>
            </a:pPr>
            <a:r>
              <a:t>37/39 TAS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37216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0B981"/>
                </a:solidFill>
                <a:latin typeface="Calibri"/>
              </a:defRPr>
            </a:pPr>
            <a:r>
              <a:t>LEGITIMATE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4748B"/>
                </a:solidFill>
                <a:latin typeface="Calibri"/>
              </a:defRPr>
            </a:pPr>
            <a:r>
              <a:t>Foidite: the sole TAS type to fail (PR=32%). Deep mantle phase chaos destroys temporal autocorrelation.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B04B"/>
                </a:solidFill>
                <a:latin typeface="Georgia"/>
              </a:defRPr>
            </a:pPr>
            <a:r>
              <a:t>The Claim (Falsifiable)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2743200" cy="36576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731520"/>
          </a:xfrm>
          <a:prstGeom prst="rect">
            <a:avLst/>
          </a:prstGeom>
          <a:solidFill>
            <a:srgbClr val="1E293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No existing monitoring framework performs compositional change detection</a:t>
            </a:r>
            <a:br/>
            <a:r>
              <a:t>at the carrier level with formal perturbation-based drift measurement.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CADCFC"/>
                </a:solidFill>
                <a:latin typeface="Calibri"/>
              </a:defRPr>
            </a:pPr>
            <a:r>
              <a:t>Four defeat conditions: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CADCFC"/>
                </a:solidFill>
                <a:latin typeface="Calibri"/>
              </a:defRPr>
            </a:pPr>
            <a:r>
              <a:t>1.  A published system using the Aitchison metric on energy-mix compositions to detect drift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CADCFC"/>
                </a:solidFill>
                <a:latin typeface="Calibri"/>
              </a:defRPr>
            </a:pPr>
            <a:r>
              <a:t>2.  A published system measuring change as perturbation rather than arithmetic difference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CADCFC"/>
                </a:solidFill>
                <a:latin typeface="Calibri"/>
              </a:defRPr>
            </a:pPr>
            <a:r>
              <a:t>3.  A published system at individual carrier level within the simplex (not aggregated to fossil/clean)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CADCFC"/>
                </a:solidFill>
                <a:latin typeface="Calibri"/>
              </a:defRPr>
            </a:pPr>
            <a:r>
              <a:t>4.  A theoretical proof that CoDa adds no information beyond percentage-based monitoring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CADCFC"/>
                </a:solidFill>
                <a:latin typeface="Calibri"/>
              </a:defRPr>
            </a:pPr>
            <a:r>
              <a:t>Show me any one of these and the claim falls. That is how science works.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E2761"/>
                </a:solidFill>
                <a:latin typeface="Georgia"/>
              </a:defRPr>
            </a:pPr>
            <a:r>
              <a:t>Open Question for This Community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2743200" cy="54864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7680960" cy="1097280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E2761"/>
                </a:solidFill>
                <a:latin typeface="Calibri"/>
              </a:defRPr>
            </a:pPr>
            <a:r>
              <a:t>What is the formal relationship between effective diversity</a:t>
            </a:r>
            <a:br/>
            <a:r>
              <a:t>N_eff = exp(H) and the Aitchison norm ‖x‖_A = ‖clr(x)‖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293B"/>
                </a:solidFill>
                <a:latin typeface="Calibri"/>
              </a:defRPr>
            </a:pPr>
            <a:r>
              <a:t>Both quantify how "spread" a composition is. They are correlated but not identical. A clean inequality relating them likely involves dimension 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We found EITT empirically. We can't prove it. Can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1">
                <a:solidFill>
                  <a:srgbClr val="64748B"/>
                </a:solidFill>
                <a:latin typeface="Calibri"/>
              </a:defRPr>
            </a:pPr>
            <a:r>
              <a:t>The geometric mean is Aitchison's. The simplex is Egozcue and Pawlowsky-Glahn's.</a:t>
            </a:r>
            <a:br/>
            <a:r>
              <a:t>The monitoring application is ours. The proof is yours if you want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914400"/>
            <a:ext cx="6400800" cy="36576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FFFFFF"/>
                </a:solidFill>
                <a:latin typeface="Georgia"/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737360"/>
            <a:ext cx="6400800" cy="36576"/>
          </a:xfrm>
          <a:prstGeom prst="rect">
            <a:avLst/>
          </a:prstGeom>
          <a:solidFill>
            <a:srgbClr val="E8B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CADCFC"/>
                </a:solidFill>
                <a:latin typeface="Calibri"/>
              </a:defRPr>
            </a:pPr>
            <a:r>
              <a:t>Peter Higgins  •  peterhiggins2016@gmail.com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CADCFC"/>
                </a:solidFill>
                <a:latin typeface="Calibri"/>
              </a:defRPr>
            </a:pPr>
            <a:r>
              <a:t>github.com/PeterHiggins19/Higgins-Unity-Framework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E8B04B"/>
                </a:solidFill>
                <a:latin typeface="Calibri"/>
              </a:defRPr>
            </a:pPr>
            <a:r>
              <a:t>40,666 rocks  •  8 oxides  •  1 simplex  •  1 critical point  •  4 tetrode vertices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CADCFC"/>
                </a:solidFill>
                <a:latin typeface="Calibri"/>
              </a:defRPr>
            </a:pPr>
            <a:r>
              <a:t>Their tools. Their geometry. Our application. Their language.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1">
                <a:solidFill>
                  <a:srgbClr val="CADCFC"/>
                </a:solidFill>
                <a:latin typeface="Calibri"/>
              </a:defRPr>
            </a:pPr>
            <a:r>
              <a:t>The instrument reads. The human decides. The loop stays open.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