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DISCOVERY MOMENT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Ternary Diagrams to 7 Theorems in Aitchison Geometry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2743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Higgins — Independent Researcher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EXP-13: Simplex Parabola Hunter  •  April 20,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PROJECT ARC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32918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Gold/Silver price ratio — first composition on the simplex. EXP-01 shows 1/(2π) lock.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2834640"/>
            <a:ext cx="54864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468880" y="1188720"/>
            <a:ext cx="1828800" cy="32918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6032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219456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EXP-01→12: Nuclear, QCD, geochemistry, gravity. 18 domains, 44 orders of magnitude.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834640"/>
            <a:ext cx="54864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480560" y="1188720"/>
            <a:ext cx="1828800" cy="32918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Insight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219456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EXP-13: Display parameters ARE data. 7 calibration quantities = 7 Aitchison theorems.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2834640"/>
            <a:ext cx="54864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92240" y="1188720"/>
            <a:ext cx="1828800" cy="32918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2E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Lock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29400" y="219456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 systems trace parabolas. 3 are geodesics. The split is clean: threshold vs power-law.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instrument IS the measurement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WHERE IT BEGAN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EXP-01  •  Gold/Silver Price Ratio  •  D=2, N=1338</a:t>
            </a:r>
            <a:endParaRPr lang="en-US" sz="1200" dirty="0"/>
          </a:p>
        </p:txBody>
      </p:sp>
      <p:pic>
        <p:nvPicPr>
          <p:cNvPr id="4" name="Image 0" descr="/sessions/wonderful-elegant-pascal/mnt/Claude CoWorker/Current-Repo/HUF/codawork2026/experiments/EXP-01_Gold_Silver/EXP-01_12step_canonic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34440"/>
            <a:ext cx="502920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577840" y="137160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760720" y="1554480"/>
            <a:ext cx="2926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first composition
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 commodity price ratio treated as compositional data on the simplex.
</a:t>
            </a:r>
            <a:endParaRPr lang="en-US" sz="16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</a:rPr>
              <a:t>Result: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Variance trajectory locks onto 1/(2π) at δ = 0.020%.
</a:t>
            </a:r>
            <a:endParaRPr lang="en-US" sz="1600" dirty="0"/>
          </a:p>
          <a:p>
            <a:pPr indent="0" marL="0">
              <a:buNone/>
            </a:pPr>
            <a:r>
              <a:rPr lang="en-US" sz="1100" i="1" dirty="0">
                <a:solidFill>
                  <a:srgbClr val="2ECFCF"/>
                </a:solidFill>
              </a:rPr>
              <a:t>The simplex reads the signal that was always there.
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A0B0CC"/>
                </a:solidFill>
              </a:rPr>
              <a:t>This single experiment launched everything that followed.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3: THE PRACTICAL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Arranging 9 ternary diagrams for maximum readability</a:t>
            </a:r>
            <a:endParaRPr lang="en-US" sz="1300" dirty="0"/>
          </a:p>
        </p:txBody>
      </p:sp>
      <p:pic>
        <p:nvPicPr>
          <p:cNvPr id="4" name="Image 0" descr="/sessions/wonderful-elegant-pascal/mnt/Claude CoWorker/Current-Repo/HUF/codawork2026/experiments/EXP-13_Parabola_Hunter/ternary_optimized_3x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280160"/>
            <a:ext cx="877824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system rotated for maximum parabola visibility. Inflection points marked.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INSIGHT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data we display must show it in this form to be diagnostic.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 of display rotations and scale and slice angles are all data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 analyzed and tracked.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Parameter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Aitchison Equivalent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1208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Parameter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Aitchison Equivalent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 Rotation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CLR critical-point direction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Coverage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429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Total Aitchison variance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 Lift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Aitchison geodesic deviation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t*  Vertex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4160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CLR Jacobian null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3063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Opening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3063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Aitchison dispersion angle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 Curvature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3429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ILR geodesic curvature integral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 Slice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3794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ILR principal axis orientation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to 10⁻¹⁵ machine precision via ILR isometry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PHYSICS SPLIT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Parabola = curvature from threshold physics    •    Geodesic = straight lines from power laws</a:t>
            </a:r>
            <a:endParaRPr lang="en-US" sz="1200" dirty="0"/>
          </a:p>
        </p:txBody>
      </p:sp>
      <p:pic>
        <p:nvPicPr>
          <p:cNvPr id="4" name="Image 0" descr="/sessions/wonderful-elegant-pascal/mnt/Claude CoWorker/Current-Repo/HUF/codawork2026/experiments/EXP-13_Parabola_Hunter/ternary_parabola_vs_geodes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" y="1097280"/>
            <a:ext cx="896112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ILR TRAJECTORIES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(red) vs Quadratic (gold) fits — the curvature index separates physics from geometry</a:t>
            </a:r>
            <a:endParaRPr lang="en-US" sz="1200" dirty="0"/>
          </a:p>
        </p:txBody>
      </p:sp>
      <p:pic>
        <p:nvPicPr>
          <p:cNvPr id="4" name="Image 0" descr="/sessions/wonderful-elegant-pascal/mnt/Claude CoWorker/Current-Repo/HUF/codawork2026/experiments/EXP-13_Parabola_Hunter/fig_parabola_hunter_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" y="1097280"/>
            <a:ext cx="896112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CALIBRATION PROOF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display parameter = a named Aitchison quantity. 7 theorems, machine-precision verification.</a:t>
            </a:r>
            <a:endParaRPr lang="en-US" sz="1200" dirty="0"/>
          </a:p>
        </p:txBody>
      </p:sp>
      <p:pic>
        <p:nvPicPr>
          <p:cNvPr id="4" name="Image 0" descr="/sessions/wonderful-elegant-pascal/mnt/Claude CoWorker/Current-Repo/HUF/codawork2026/experiments/EXP-13_Parabola_Hunter/calibration_proo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" y="1051560"/>
            <a:ext cx="896112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DATA VALIDATION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models (top) and real Ember electricity measurements (bottom) in the same parameter space</a:t>
            </a:r>
            <a:endParaRPr lang="en-US" sz="1200" dirty="0"/>
          </a:p>
        </p:txBody>
      </p:sp>
      <p:pic>
        <p:nvPicPr>
          <p:cNvPr id="4" name="Image 0" descr="/sessions/wonderful-elegant-pascal/mnt/Claude CoWorker/Current-Repo/HUF/codawork2026/experiments/EXP-13_Parabola_Hunter/exp13_real_data_tern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" y="1051560"/>
            <a:ext cx="4572000" cy="1920240"/>
          </a:xfrm>
          <a:prstGeom prst="rect">
            <a:avLst/>
          </a:prstGeom>
        </p:spPr>
      </p:pic>
      <p:pic>
        <p:nvPicPr>
          <p:cNvPr id="5" name="Image 1" descr="/sessions/wonderful-elegant-pascal/mnt/Claude CoWorker/Current-Repo/HUF/codawork2026/experiments/EXP-13_Parabola_Hunter/exp13_real_data_il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1051560"/>
            <a:ext cx="4480560" cy="1920240"/>
          </a:xfrm>
          <a:prstGeom prst="rect">
            <a:avLst/>
          </a:prstGeom>
        </p:spPr>
      </p:pic>
      <p:pic>
        <p:nvPicPr>
          <p:cNvPr id="6" name="Image 2" descr="/sessions/wonderful-elegant-pascal/mnt/Claude CoWorker/Current-Repo/HUF/codawork2026/experiments/EXP-13_Parabola_Hunter/exp13_real_data_classifi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7200" y="3017520"/>
            <a:ext cx="4114800" cy="19202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5029200" y="301752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1E2761"/>
          </a:solidFill>
          <a:ln/>
        </p:spPr>
      </p:sp>
      <p:sp>
        <p:nvSpPr>
          <p:cNvPr id="8" name="Text 3"/>
          <p:cNvSpPr/>
          <p:nvPr/>
        </p:nvSpPr>
        <p:spPr>
          <a:xfrm>
            <a:off x="5212080" y="310896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Classifier Results
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CFCF"/>
                </a:solidFill>
              </a:rPr>
              <a:t>World: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PARABOLA  F=13.8
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CFCF"/>
                </a:solidFill>
              </a:rPr>
              <a:t>Germany: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PARABOLA  F=12.2
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CFCF"/>
                </a:solidFill>
              </a:rPr>
              <a:t>France: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GEODESIC  F=6.8
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CFCF"/>
                </a:solidFill>
              </a:rPr>
              <a:t>China: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PARABOLA  F=36.3
</a:t>
            </a:r>
            <a:endParaRPr lang="en-US" sz="14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0B0CC"/>
                </a:solidFill>
              </a:rPr>
              <a:t>France's stable nuclear grid is a geodesic.</a:t>
            </a:r>
            <a:endParaRPr lang="en-US" sz="1400" dirty="0"/>
          </a:p>
          <a:p>
            <a:pPr indent="0" marL="0">
              <a:buNone/>
            </a:pPr>
            <a:r>
              <a:rPr lang="en-US" sz="1000" i="1" dirty="0">
                <a:solidFill>
                  <a:srgbClr val="A0B0CC"/>
                </a:solidFill>
              </a:rPr>
              <a:t>All others show energy transitions in progress.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Cartesian Parabola Theorem and universal classification</a:t>
            </a:r>
            <a:endParaRPr lang="en-US" sz="1300" dirty="0"/>
          </a:p>
        </p:txBody>
      </p:sp>
      <p:pic>
        <p:nvPicPr>
          <p:cNvPr id="4" name="Image 0" descr="/sessions/wonderful-elegant-pascal/mnt/Claude CoWorker/Current-Repo/HUF/codawork2026/experiments/EXP-13_Parabola_Hunter/fig_parabola_hunter_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" y="1097280"/>
            <a:ext cx="896112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947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8404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Every D=3 system traces a structured, classifiable path through the simplex.
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ECFCF"/>
                </a:solidFill>
              </a:rPr>
              <a:t>Power-law rates → geodesic.   Threshold / transition physics → parabola.
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D4A843"/>
                </a:solidFill>
              </a:rPr>
              <a:t>The simplex geometry reads the signal. The parabola is the lock.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PHASE TRANSITIONS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" y="1261872"/>
            <a:ext cx="219456" cy="21945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777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Gold/Silver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1/(2π) lock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22576" y="1261872"/>
            <a:ext cx="219456" cy="21945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777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EXP-01→12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domains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orders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68496" y="1261872"/>
            <a:ext cx="219456" cy="219456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777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EXP-13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Parabola insight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theorems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14416" y="1261872"/>
            <a:ext cx="219456" cy="219456"/>
          </a:xfrm>
          <a:prstGeom prst="ellipse">
            <a:avLst/>
          </a:prstGeom>
          <a:solidFill>
            <a:srgbClr val="2ECFCF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777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EXP-14→18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 TOOL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X-ray, forces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0336" y="1261872"/>
            <a:ext cx="219456" cy="21945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777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CoDaWork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Coimbra 2026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systems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→ Expansion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27432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1/(2π) lock in Gold/Silver couldn't be a coincidence. The question became: does the simplex read every system, or just this one? Twelve experiments across nuclear physics, QCD, astrophysics, geochemistry, and gravity confirmed universality.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→ Discovery (EXP-13)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33832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pivotal moment: arranging ternary diagrams for readability, Peter realized the display calibration parameters — rotation, zoom, lift, vertex, opening angle, curvature, slice angle — were not rendering choices. They were Aitchison geometric quantities. 7 display parameters = 7 formal theorems.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DUT Tool Phase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17520" y="4023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Calibration Proof established, the instrument became a testable Device Under Test. EXP-14 through EXP-18 validated fixed-point selection, X-ray crystallography, spring-mass systems, uncertainty quantification, and force-matter bridges. The pipeline matured from explorer to industrial tool.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NATURAL PARTITION PRINCIPLE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73152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73736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any system whose components form a composition on the simplex,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exists a partition structure determined by the system's own geometry or physics.
</a:t>
            </a:r>
            <a:pPr algn="ctr" indent="0" marL="0">
              <a:buNone/>
            </a:pPr>
            <a:r>
              <a:rPr lang="en-US" sz="1400" dirty="0">
                <a:solidFill>
                  <a:srgbClr val="2ECF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that aligns with this natural partition preserves compositional information.
</a:t>
            </a:r>
            <a:pPr algn="ctr" indent="0" marL="0">
              <a:buNone/>
            </a:pPr>
            <a:r>
              <a:rPr lang="en-US" sz="140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that imposes a synthetic partition destroys 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DADC: The engineer assigns 20log₁₀(2) because the physics demands it.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C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Hˢ: The instrument discovers the partition because the data demands it.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work because the partition is natural, not synthetic.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Discovery Moment — From Parabolas to the Lock</dc:title>
  <dc:subject>PptxGenJS Presentation</dc:subject>
  <dc:creator>Peter Higgins</dc:creator>
  <cp:lastModifiedBy>Peter Higgins</cp:lastModifiedBy>
  <cp:revision>1</cp:revision>
  <dcterms:created xsi:type="dcterms:W3CDTF">2026-04-28T19:36:06Z</dcterms:created>
  <dcterms:modified xsi:type="dcterms:W3CDTF">2026-04-28T19:36:06Z</dcterms:modified>
</cp:coreProperties>
</file>